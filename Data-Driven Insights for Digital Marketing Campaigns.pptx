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yashree Pooranachandran" userId="08fbcd16ef1c911f" providerId="LiveId" clId="{B45B48CC-70A6-4827-A6CC-E20BE1775DEB}"/>
    <pc:docChg chg="custSel addSld modSld">
      <pc:chgData name="Rajyashree Pooranachandran" userId="08fbcd16ef1c911f" providerId="LiveId" clId="{B45B48CC-70A6-4827-A6CC-E20BE1775DEB}" dt="2026-08-26T09:49:37.921" v="24" actId="20577"/>
      <pc:docMkLst>
        <pc:docMk/>
      </pc:docMkLst>
      <pc:sldChg chg="modSp mod">
        <pc:chgData name="Rajyashree Pooranachandran" userId="08fbcd16ef1c911f" providerId="LiveId" clId="{B45B48CC-70A6-4827-A6CC-E20BE1775DEB}" dt="2026-08-26T09:49:37.921" v="24" actId="20577"/>
        <pc:sldMkLst>
          <pc:docMk/>
          <pc:sldMk cId="411879195" sldId="259"/>
        </pc:sldMkLst>
        <pc:spChg chg="mod">
          <ac:chgData name="Rajyashree Pooranachandran" userId="08fbcd16ef1c911f" providerId="LiveId" clId="{B45B48CC-70A6-4827-A6CC-E20BE1775DEB}" dt="2026-08-26T09:49:37.921" v="24" actId="20577"/>
          <ac:spMkLst>
            <pc:docMk/>
            <pc:sldMk cId="411879195" sldId="259"/>
            <ac:spMk id="3" creationId="{3D8BF5CA-0F82-66B6-42E8-0F3B3EBA5D9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CFD64-B748-BACE-D8BF-16953BB37D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3556E6-8896-1D67-E858-6BC63E25CC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0BCA2-0FC7-6F6B-E420-3406BEE8D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B6331-B944-45DE-8C8C-2AD33ABDC7B3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65EAF-E320-627C-7D0F-164173A75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B3DB5E-81EF-717A-84E0-E477B62AA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9DEB8-28AF-43EF-8FCE-6A3097E70C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095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2E7F3-D58E-AAAE-FDC9-A1C4AACE4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EC013-2840-F67A-4FE4-0FD162542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318DB5-A9E9-EA55-3505-0F0C97076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B6331-B944-45DE-8C8C-2AD33ABDC7B3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341D4-E664-B8AD-E4D7-64419E55F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81F6A-AFD9-5B33-E544-99EDFC8ED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9DEB8-28AF-43EF-8FCE-6A3097E70C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7660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440FD-DF42-E366-BACD-C60398A64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1E4992-3498-954B-D62D-481496BB1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69A75-1A66-0C27-92D3-6A98542EC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B6331-B944-45DE-8C8C-2AD33ABDC7B3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901C01-461B-BD95-AB18-BF9E84B2B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F1BE5-18C0-D3C7-1429-A3F62621D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9DEB8-28AF-43EF-8FCE-6A3097E70C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9042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14A55-2692-A8B0-DF74-E228BA3EB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255DB-D303-130B-3F15-C27C3861A4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3030C6-C197-B7F6-D04D-C8E7F907A7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56030B-1ABA-D319-7AF8-47B4FD641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B6331-B944-45DE-8C8C-2AD33ABDC7B3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6B7A5C-FEF9-BCD5-37B5-04C50E710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2E1617-03E3-B082-5D83-8F93D2EA5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9DEB8-28AF-43EF-8FCE-6A3097E70C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2160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BE649-58C4-48BC-0983-C258DCB97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DAF188-3B19-98AE-012A-3CA0E95806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2B96EB-9D83-87B4-CDB4-4D6B570B5E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97F957-63D3-B230-D55F-F11D89E51E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A38303-9907-0117-80E4-4D7DF540FE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5660B6-844B-422B-15E0-072A94886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B6331-B944-45DE-8C8C-2AD33ABDC7B3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890DED-CFE6-43E3-72B3-851D1200A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F381D5-07F5-91F9-BAC2-C72B44FD4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9DEB8-28AF-43EF-8FCE-6A3097E70C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6608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79641-5227-4E96-4AFF-B1BE9E7D0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1974D9-222D-1F06-8D7C-CC1F0E0C6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B6331-B944-45DE-8C8C-2AD33ABDC7B3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04F7B3-B9F7-B11F-6A8F-E5EDFDC92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96AA0F-854F-79E3-F666-CA4867102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9DEB8-28AF-43EF-8FCE-6A3097E70C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382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0EA544-6A49-FA26-FC66-089138AF4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B6331-B944-45DE-8C8C-2AD33ABDC7B3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4864D5-8A1C-8CA6-8A79-2FA885F73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4D64B5-AE3F-46C0-3051-82DC1F519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9DEB8-28AF-43EF-8FCE-6A3097E70C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810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023E7-B9F5-CB09-7CA1-4E97B7DFA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BE676-E333-7660-EC95-B9988D34E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9BDD08-F343-89E3-2D99-6882CE4B34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33BAD0-54AA-D4A7-DF87-89190FC44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B6331-B944-45DE-8C8C-2AD33ABDC7B3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C3E189-4906-62C0-C7C1-100F4E5E8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C91E60-5EB9-9C47-5DC3-8643EADA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9DEB8-28AF-43EF-8FCE-6A3097E70C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7822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F535F-25F9-82E8-EEE0-B815B29A7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DC13FA-C5E3-142D-589F-30019520D5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620E31-EFBA-2293-0160-61A01AF790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8CB31D-A10D-2398-5E98-82E7FCFDC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B6331-B944-45DE-8C8C-2AD33ABDC7B3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0007F3-ACEE-42DF-FCE8-9F7FD8AA6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96FEAB-AAA7-DF85-6D0A-6B42A4A31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9DEB8-28AF-43EF-8FCE-6A3097E70C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3912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38F86-FCCA-50E2-6711-CF7D95625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2AC575-681B-912D-7046-7B429438DF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B93CA9-4181-D37B-4CA3-EDFCEA263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B6331-B944-45DE-8C8C-2AD33ABDC7B3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C7E20-6C6E-4C60-C1E3-8EDC5DB98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F8A07-A47C-FE4E-0AFC-E42854C40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9DEB8-28AF-43EF-8FCE-6A3097E70C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2698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55BAA9-B3E7-07F3-A2D0-E8E55CD541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FA4310-1BAB-746F-7244-E047ABB248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F66BC-C901-454C-B079-0B9903BEC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B6331-B944-45DE-8C8C-2AD33ABDC7B3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6BFBE5-7673-94F7-960B-E2569BFB8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CB790-A027-EA4E-EBDF-1C23D4B01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9DEB8-28AF-43EF-8FCE-6A3097E70C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83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F45EC5-7972-15F9-3966-C7337809A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A3EA6-E98A-D65D-46A5-616156EA4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7B507-B17E-4B4B-962F-22AC7828E7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BB6331-B944-45DE-8C8C-2AD33ABDC7B3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3079F-3ECC-9114-2325-FF388B2945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A0581-98B8-07F4-9041-A30647486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99DEB8-28AF-43EF-8FCE-6A3097E70C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7859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05852-AD1E-A934-94CA-7D4CE942F2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39095"/>
            <a:ext cx="9144000" cy="1655762"/>
          </a:xfrm>
        </p:spPr>
        <p:txBody>
          <a:bodyPr>
            <a:normAutofit/>
          </a:bodyPr>
          <a:lstStyle/>
          <a:p>
            <a:r>
              <a:rPr lang="en-IN" sz="4000" dirty="0"/>
              <a:t>Data-Driven Insights for Digital Marketing Campaigns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9D03BF-501B-8647-6FF4-3ACAE8CADA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  <a:p>
            <a:pPr algn="r"/>
            <a:r>
              <a:rPr lang="en-IN" dirty="0" err="1"/>
              <a:t>P.Rajyashree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334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53CF00F-82D0-0DBA-75D5-1D01B4526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3A7876-7451-CDA3-1AD0-FB06A7AF8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945037" cy="1133856"/>
          </a:xfrm>
        </p:spPr>
        <p:txBody>
          <a:bodyPr anchor="t">
            <a:normAutofit/>
          </a:bodyPr>
          <a:lstStyle/>
          <a:p>
            <a:r>
              <a:rPr lang="en-IN" dirty="0"/>
              <a:t>    Agenda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9B006FF-54A4-C874-9A7D-986FB5695A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4930054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612648" y="2293694"/>
          <a:ext cx="10945036" cy="264492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51680">
                  <a:extLst>
                    <a:ext uri="{9D8B030D-6E8A-4147-A177-3AD203B41FA5}">
                      <a16:colId xmlns:a16="http://schemas.microsoft.com/office/drawing/2014/main" val="1073852280"/>
                    </a:ext>
                  </a:extLst>
                </a:gridCol>
                <a:gridCol w="10593356">
                  <a:extLst>
                    <a:ext uri="{9D8B030D-6E8A-4147-A177-3AD203B41FA5}">
                      <a16:colId xmlns:a16="http://schemas.microsoft.com/office/drawing/2014/main" val="599959783"/>
                    </a:ext>
                  </a:extLst>
                </a:gridCol>
              </a:tblGrid>
              <a:tr h="561272">
                <a:tc rowSpan="4">
                  <a:txBody>
                    <a:bodyPr/>
                    <a:lstStyle/>
                    <a:p>
                      <a:pPr>
                        <a:buNone/>
                      </a:pPr>
                      <a:endParaRPr lang="en-IN" sz="3200" dirty="0"/>
                    </a:p>
                  </a:txBody>
                  <a:tcPr marL="163140" marR="163140" marT="81570" marB="81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Data Analysis</a:t>
                      </a:r>
                      <a:endParaRPr lang="en-IN" sz="3200" dirty="0"/>
                    </a:p>
                  </a:txBody>
                  <a:tcPr marL="163140" marR="163140" marT="81570" marB="81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5235560"/>
                  </a:ext>
                </a:extLst>
              </a:tr>
              <a:tr h="561272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IN" sz="3200" dirty="0"/>
                    </a:p>
                  </a:txBody>
                  <a:tcPr marL="163140" marR="163140" marT="81570" marB="81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D</a:t>
                      </a:r>
                      <a:r>
                        <a:rPr lang="en-IN" sz="3200" dirty="0" err="1"/>
                        <a:t>ashboard</a:t>
                      </a:r>
                      <a:r>
                        <a:rPr lang="en-IN" sz="3200" dirty="0"/>
                        <a:t> creation</a:t>
                      </a:r>
                    </a:p>
                  </a:txBody>
                  <a:tcPr marL="163140" marR="163140" marT="81570" marB="81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0560723"/>
                  </a:ext>
                </a:extLst>
              </a:tr>
              <a:tr h="561272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IN" sz="3200" dirty="0"/>
                    </a:p>
                  </a:txBody>
                  <a:tcPr marL="163140" marR="163140" marT="81570" marB="81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I</a:t>
                      </a:r>
                      <a:r>
                        <a:rPr lang="en-IN" sz="3200" dirty="0" err="1"/>
                        <a:t>nsight</a:t>
                      </a:r>
                      <a:r>
                        <a:rPr lang="en-IN" sz="3200" dirty="0"/>
                        <a:t> generation and Reporting</a:t>
                      </a:r>
                    </a:p>
                  </a:txBody>
                  <a:tcPr marL="163140" marR="163140" marT="81570" marB="81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6836816"/>
                  </a:ext>
                </a:extLst>
              </a:tr>
              <a:tr h="692461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IN" sz="3200" dirty="0"/>
                    </a:p>
                  </a:txBody>
                  <a:tcPr marL="163140" marR="163140" marT="81570" marB="81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3200" dirty="0"/>
                    </a:p>
                  </a:txBody>
                  <a:tcPr marL="163140" marR="163140" marT="81570" marB="81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27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5536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7175C-5133-6553-6A62-000D9C0D1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60E76-8095-C22E-D12E-E012C533A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 inefficiency of Digital Marketing campaigns</a:t>
            </a:r>
          </a:p>
          <a:p>
            <a:r>
              <a:rPr lang="en-US" dirty="0"/>
              <a:t>With clear KPI’s identify trends and strategies to optimize ROI</a:t>
            </a:r>
          </a:p>
          <a:p>
            <a:r>
              <a:rPr lang="en-US" dirty="0"/>
              <a:t>Leveraging data-analytics and interactive dashboards to generate</a:t>
            </a:r>
          </a:p>
          <a:p>
            <a:pPr lvl="1"/>
            <a:r>
              <a:rPr lang="en-US" dirty="0"/>
              <a:t>Actionable insights </a:t>
            </a:r>
          </a:p>
          <a:p>
            <a:pPr lvl="1"/>
            <a:r>
              <a:rPr lang="en-US" dirty="0"/>
              <a:t>Data-driven decision making</a:t>
            </a:r>
          </a:p>
          <a:p>
            <a:pPr lvl="1"/>
            <a:r>
              <a:rPr lang="en-US" dirty="0"/>
              <a:t>Improved campaign performance</a:t>
            </a:r>
          </a:p>
          <a:p>
            <a:pPr lvl="1"/>
            <a:r>
              <a:rPr lang="en-US" dirty="0"/>
              <a:t>Client satisfaction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2508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B422D-7E1D-8862-CD50-822A90445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BF5CA-0F82-66B6-42E8-0F3B3EBA5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400" dirty="0"/>
              <a:t>Organic Search is your strongest channel having highest intent, highest engagement, highest revenue.</a:t>
            </a:r>
          </a:p>
          <a:p>
            <a:r>
              <a:rPr lang="en-IN" sz="2400" dirty="0"/>
              <a:t>Landing Pages: High Traffic, Low Monetization</a:t>
            </a:r>
          </a:p>
          <a:p>
            <a:r>
              <a:rPr lang="en-IN" sz="2400" dirty="0"/>
              <a:t>Audience Segments: Very Few Buyers</a:t>
            </a:r>
          </a:p>
          <a:p>
            <a:pPr lvl="0"/>
            <a:r>
              <a:rPr lang="en-IN" sz="2400" dirty="0"/>
              <a:t>Country Performance: Global Traffic, No Global Revenue</a:t>
            </a:r>
          </a:p>
          <a:p>
            <a:pPr lvl="0"/>
            <a:r>
              <a:rPr lang="en-IN" sz="2400" dirty="0"/>
              <a:t>Age Performance: One Age Group Drives Revenue</a:t>
            </a:r>
          </a:p>
          <a:p>
            <a:r>
              <a:rPr lang="en-IN" sz="2400" dirty="0"/>
              <a:t>Interests: Entertainment, Shopping &amp; Travel drive Revenue</a:t>
            </a:r>
          </a:p>
          <a:p>
            <a:pPr lvl="0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11879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55E4D-D4E8-2094-2D47-70F3531AC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7F3BD-75A5-C6AE-A222-0E49AEFA2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/>
              <a:t>Fix Paid Search Immediately (Highest Priority)</a:t>
            </a:r>
          </a:p>
          <a:p>
            <a:r>
              <a:rPr lang="en-IN" sz="2000" dirty="0"/>
              <a:t>Improve Homepage &amp; Direct Traffic UX</a:t>
            </a:r>
          </a:p>
          <a:p>
            <a:r>
              <a:rPr lang="en-IN" sz="2000" dirty="0"/>
              <a:t>Scale Organic Search (Your Growth Engine)</a:t>
            </a:r>
          </a:p>
          <a:p>
            <a:r>
              <a:rPr lang="en-IN" sz="2000" dirty="0"/>
              <a:t>Fix Product Listing &amp; Product Detail Pages</a:t>
            </a:r>
          </a:p>
          <a:p>
            <a:r>
              <a:rPr lang="en-IN" sz="2000" dirty="0"/>
              <a:t>Repair Checkout Funnel</a:t>
            </a:r>
          </a:p>
          <a:p>
            <a:r>
              <a:rPr lang="en-IN" sz="2000" dirty="0"/>
              <a:t>Retarget High-Intent Segments</a:t>
            </a:r>
          </a:p>
          <a:p>
            <a:r>
              <a:rPr lang="en-IN" sz="2000" dirty="0"/>
              <a:t>Localize for High-Engagement Countries</a:t>
            </a:r>
          </a:p>
          <a:p>
            <a:r>
              <a:rPr lang="en-IN" sz="2000" dirty="0"/>
              <a:t>Build Interest-Based Personalization</a:t>
            </a:r>
          </a:p>
          <a:p>
            <a:r>
              <a:rPr lang="en-IN" sz="2000" dirty="0"/>
              <a:t>Focus on Age 35–44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751607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ED609-0466-83CF-E743-4DF8DFEB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Summary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036A3-AC6D-9B8D-A75C-FB50A3A3A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0480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/>
              <a:t>Top 5 Actions to Drive</a:t>
            </a:r>
          </a:p>
          <a:p>
            <a:pPr marL="0" indent="0">
              <a:buNone/>
            </a:pPr>
            <a:r>
              <a:rPr lang="en-IN" sz="1800" b="1" dirty="0"/>
              <a:t> Revenue</a:t>
            </a:r>
          </a:p>
          <a:p>
            <a:pPr marL="0" indent="0">
              <a:buNone/>
            </a:pPr>
            <a:endParaRPr lang="en-IN" sz="1800" dirty="0"/>
          </a:p>
          <a:p>
            <a:pPr lvl="0"/>
            <a:r>
              <a:rPr lang="en-IN" sz="1800" dirty="0"/>
              <a:t>Fix Paid Search</a:t>
            </a:r>
          </a:p>
          <a:p>
            <a:pPr lvl="0"/>
            <a:r>
              <a:rPr lang="en-IN" sz="1800" dirty="0"/>
              <a:t>Improve Homepage &amp; Product Pages</a:t>
            </a:r>
          </a:p>
          <a:p>
            <a:pPr lvl="0"/>
            <a:r>
              <a:rPr lang="en-IN" sz="1800" dirty="0"/>
              <a:t>Repair Checkout Funnel</a:t>
            </a:r>
          </a:p>
          <a:p>
            <a:pPr lvl="0"/>
            <a:r>
              <a:rPr lang="en-IN" sz="1800" dirty="0"/>
              <a:t>Scale Organic Search</a:t>
            </a:r>
          </a:p>
          <a:p>
            <a:pPr lvl="0"/>
            <a:r>
              <a:rPr lang="en-IN" sz="1800" dirty="0"/>
              <a:t>Retarget High-Intent Users</a:t>
            </a:r>
          </a:p>
          <a:p>
            <a:endParaRPr lang="en-IN" sz="18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286FF37-E1E9-BC82-B92F-C7BAFC114508}"/>
              </a:ext>
            </a:extLst>
          </p:cNvPr>
          <p:cNvSpPr txBox="1">
            <a:spLocks/>
          </p:cNvSpPr>
          <p:nvPr/>
        </p:nvSpPr>
        <p:spPr>
          <a:xfrm>
            <a:off x="4093029" y="1825625"/>
            <a:ext cx="304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800" b="1" dirty="0"/>
              <a:t>Top 5 Segments to Prioritize</a:t>
            </a:r>
          </a:p>
          <a:p>
            <a:pPr marL="0" indent="0">
              <a:buNone/>
            </a:pPr>
            <a:endParaRPr lang="en-IN" sz="1800" dirty="0"/>
          </a:p>
          <a:p>
            <a:pPr lvl="0"/>
            <a:r>
              <a:rPr lang="en-IN" sz="1800" dirty="0"/>
              <a:t>Age 35–44</a:t>
            </a:r>
          </a:p>
          <a:p>
            <a:pPr lvl="0"/>
            <a:r>
              <a:rPr lang="en-IN" sz="1800" dirty="0"/>
              <a:t>Tech Lovers</a:t>
            </a:r>
          </a:p>
          <a:p>
            <a:pPr lvl="0"/>
            <a:r>
              <a:rPr lang="en-IN" sz="1800" dirty="0"/>
              <a:t>Movie/TV Lovers</a:t>
            </a:r>
          </a:p>
          <a:p>
            <a:pPr lvl="0"/>
            <a:r>
              <a:rPr lang="en-IN" sz="1800" dirty="0"/>
              <a:t>Travel Buffs</a:t>
            </a:r>
          </a:p>
          <a:p>
            <a:pPr lvl="0"/>
            <a:r>
              <a:rPr lang="en-IN" sz="1800" dirty="0"/>
              <a:t>Shopping Enthusiasts</a:t>
            </a:r>
          </a:p>
          <a:p>
            <a:endParaRPr lang="en-IN" sz="18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BD2A7A8-2043-A77E-3963-63E8830ED818}"/>
              </a:ext>
            </a:extLst>
          </p:cNvPr>
          <p:cNvSpPr txBox="1">
            <a:spLocks/>
          </p:cNvSpPr>
          <p:nvPr/>
        </p:nvSpPr>
        <p:spPr>
          <a:xfrm>
            <a:off x="7652658" y="1825625"/>
            <a:ext cx="304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800" b="1" dirty="0"/>
              <a:t>Top 5 Markets to Focus On</a:t>
            </a:r>
          </a:p>
          <a:p>
            <a:pPr marL="0" indent="0">
              <a:buNone/>
            </a:pPr>
            <a:endParaRPr lang="en-IN" sz="1800" dirty="0"/>
          </a:p>
          <a:p>
            <a:pPr lvl="0"/>
            <a:r>
              <a:rPr lang="en-IN" sz="1800" dirty="0"/>
              <a:t>US</a:t>
            </a:r>
          </a:p>
          <a:p>
            <a:pPr lvl="0"/>
            <a:r>
              <a:rPr lang="en-IN" sz="1800" dirty="0"/>
              <a:t>India</a:t>
            </a:r>
          </a:p>
          <a:p>
            <a:pPr lvl="0"/>
            <a:r>
              <a:rPr lang="en-IN" sz="1800" dirty="0"/>
              <a:t>Japan</a:t>
            </a:r>
          </a:p>
          <a:p>
            <a:pPr lvl="0"/>
            <a:r>
              <a:rPr lang="en-IN" sz="1800" dirty="0"/>
              <a:t>Taiwan</a:t>
            </a:r>
          </a:p>
          <a:p>
            <a:pPr lvl="0"/>
            <a:r>
              <a:rPr lang="en-IN" sz="1800" dirty="0"/>
              <a:t>Canada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609209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0E7C6-7EAB-1CFE-4E73-7B4E4AB76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90811"/>
            <a:ext cx="10515600" cy="1325563"/>
          </a:xfrm>
        </p:spPr>
        <p:txBody>
          <a:bodyPr/>
          <a:lstStyle/>
          <a:p>
            <a:r>
              <a:rPr lang="en-US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9460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2045</TotalTime>
  <Words>216</Words>
  <Application>Microsoft Office PowerPoint</Application>
  <PresentationFormat>Widescreen</PresentationFormat>
  <Paragraphs>57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Data-Driven Insights for Digital Marketing Campaigns</vt:lpstr>
      <vt:lpstr>    Agenda</vt:lpstr>
      <vt:lpstr>Problem Statement</vt:lpstr>
      <vt:lpstr>Insights</vt:lpstr>
      <vt:lpstr>Recommendations</vt:lpstr>
      <vt:lpstr>Executive 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Rajyashree Pooranachandran</dc:creator>
  <cp:lastModifiedBy>Rajyashree Pooranachandran</cp:lastModifiedBy>
  <cp:revision>1</cp:revision>
  <dcterms:created xsi:type="dcterms:W3CDTF">2026-07-24T07:41:02Z</dcterms:created>
  <dcterms:modified xsi:type="dcterms:W3CDTF">2026-08-26T09:49:44Z</dcterms:modified>
</cp:coreProperties>
</file>